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2.xml" ContentType="application/vnd.openxmlformats-officedocument.theme+xml"/>
  <Override PartName="/ppt/slides/slide16.xml" ContentType="application/vnd.openxmlformats-officedocument.presentationml.slide+xml"/>
  <Override PartName="/ppt/slides/slide10.xml" ContentType="application/vnd.openxmlformats-officedocument.presentationml.slide+xml"/>
  <Override PartName="/ppt/slides/slide17.xml" ContentType="application/vnd.openxmlformats-officedocument.presentationml.slide+xml"/>
  <Override PartName="/ppt/slides/slide12.xml" ContentType="application/vnd.openxmlformats-officedocument.presentationml.slide+xml"/>
  <Override PartName="/ppt/slides/slide19.xml" ContentType="application/vnd.openxmlformats-officedocument.presentationml.slide+xml"/>
  <Override PartName="/ppt/slides/slide11.xml" ContentType="application/vnd.openxmlformats-officedocument.presentationml.slide+xml"/>
  <Override PartName="/ppt/slides/slide22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21.xml" ContentType="application/vnd.openxmlformats-officedocument.presentationml.slide+xml"/>
  <Override PartName="/ppt/slides/slide13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8.xml" ContentType="application/vnd.openxmlformats-officedocument.presentationml.slide+xml"/>
  <Override PartName="/ppt/slides/slide14.xml" ContentType="application/vnd.openxmlformats-officedocument.presentationml.slide+xml"/>
  <Override PartName="/ppt/slides/slide7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5.xml" ContentType="application/vnd.openxmlformats-officedocument.presentationml.slide+xml"/>
  <Override PartName="/ppt/slides/slide2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Slides/notesSlide11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4572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D372303A-1136-4917-852F-E3CAC508FE85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6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Welcome. In this video we connect a GitHub repo to a Snowflake Workspace and go through the full Git workflow live.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7291348-4C27-47AD-BCD8-356A520B6265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6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Quick roadmap of the video.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4E537B5-4A76-43C8-8B21-4F5629109D28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7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Stress that a Git workspace is a PRIVATE workspace. Teams collaborate through Git (push/pull), not by sharing the workspace.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A48A84B-7A3E-48A2-A443-A8D757DA9A00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7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Business value before hands-on.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9D7A3F8-FAA2-4888-A955-3199EACE04C6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7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API integration controls WHICH URLs Snowflake may reach and WHICH secrets it may use. The secret holds the credentials.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D3BF574-F2D1-4A7A-B6F5-EE4DE23E8CED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7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Mention the empty-repo restriction; a lot of people trip on it.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83A1E8D-3467-4483-98CE-84CC34D47615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8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Keep the URL handy; it's used in the API integration prefix and in the workspace dialog.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FC692E9-FA8D-47F0-9346-B6A82317BB27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8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SECURITY: blur the token in the video edit, and revoke it after recording.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CA08CE8-0311-4154-9364-E868FE0D348F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8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TYPE must be PASSWORD. USERNAME is the GitHub login, PASSWORD is the PAT.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D007585-2425-476C-9EF5-262AA6CD919E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9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Prefix scoping is a security boundary: keep it as narrow as practical.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CDA1533-84B2-417B-A483-23282F0A82A3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9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workspace belongs to the user, not the role.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1477FF2-9106-4057-B0F6-57A90EB30A4D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9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If the integration doesn't show in the dropdown: check the role in the user menu and the USAGE grants.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463139B-7992-4F6C-8DBA-E5FAEBFDDC8A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0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By default Snowflake uses your Snowflake username/email as the commit author.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7171DF1-8D36-42A9-BEAA-D4A25EF9F728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0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Files save automatically, but nothing reaches GitHub until you push.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1044F33-7950-4ED6-82B6-30DA1FDDA76D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0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is the equivalent of git status + git diff.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A9DB562-752B-42D4-973B-DA196D985E36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0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Highlight the author name and email set in step 7.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60BA17E-E785-43DB-A7BF-CE75C30DC7FE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1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Shows changes flowing back from GitHub into Snowflake.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10365F8-2D80-467B-9486-9C7BB03F94F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1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is the team workflow: one developer per Git workspace, collaborating through PRs.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PlaceHolder 3"/>
          <p:cNvSpPr>
            <a:spLocks noGrp="1"/>
          </p:cNvSpPr>
          <p:nvPr>
            <p:ph type="sldNum" idx="54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E19FCB2-8793-4E0B-ABE3-84EB9A7CD569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1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Practise this once before recording so the timing is smooth.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PlaceHolder 3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F001280-6F6E-43AF-9C84-C3D4917EDF78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2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See 'Git in Snowflake limitations' in the docs for the full list.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PlaceHolder 3"/>
          <p:cNvSpPr>
            <a:spLocks noGrp="1"/>
          </p:cNvSpPr>
          <p:nvPr>
            <p:ph type="sldNum" idx="56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F4CD1CA-13D5-498A-BBBA-53733C06D61D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2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Handy if anything goes wrong live.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PlaceHolder 3"/>
          <p:cNvSpPr>
            <a:spLocks noGrp="1"/>
          </p:cNvSpPr>
          <p:nvPr>
            <p:ph type="sldNum" idx="5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15E55F3-754F-49B3-A958-058D43C1EDA4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2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 a smoother production setup, mention that OAuth via the Snowflake GitHub App is an alternative.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PlaceHolder 3"/>
          <p:cNvSpPr>
            <a:spLocks noGrp="1"/>
          </p:cNvSpPr>
          <p:nvPr>
            <p:ph type="sldNum" idx="5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45B18A2-9786-435D-8988-8692786933C9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3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Always revoke a token that appeared on a recording, even if it was blurred.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PlaceHolder 3"/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5C32C8F-9C0C-4F6C-B92F-C3D23B3FDDE5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3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Close the video and point viewers to the docs page: Integrate workspaces with a Git repository.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PlaceHolder 3"/>
          <p:cNvSpPr>
            <a:spLocks noGrp="1"/>
          </p:cNvSpPr>
          <p:nvPr>
            <p:ph type="sldNum" idx="6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75164DB-C8FB-45D6-80EE-9CFDF549E3C1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4BF44E1-5B68-47D9-829F-85198E21F6D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CAEC749-0F3B-4CF9-A414-82AD965E40F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4742BBB-3FD5-49C3-9270-243DBC4A009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972B34A-281B-4CBA-805F-BCE24B36651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CAA2184-6EB4-46E9-8795-BADB5AF1337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AC0881C-00C0-4D99-BB4E-F0F32200E88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5937EBF-E2E8-4CD7-BE1C-5313A2C90F8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3DA3804-C652-4EF5-AC18-A5738390BE9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7AF8A7D-22CD-46DA-AB6A-7A624AE0889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F75FE78-8FCE-4A0E-B14D-B5F029FC55C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064DE43-BB51-4094-97C8-52DFA2590F9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Box 1"/>
          <p:cNvSpPr/>
          <p:nvPr/>
        </p:nvSpPr>
        <p:spPr>
          <a:xfrm>
            <a:off x="731520" y="2103120"/>
            <a:ext cx="1069812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Git Integration with Snowflake Workspaces</a:t>
            </a:r>
            <a:endParaRPr lang="en-US" sz="4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29B5E8"/>
                </a:solidFill>
                <a:effectLst/>
                <a:uFillTx/>
                <a:latin typeface="Calibri"/>
              </a:rPr>
              <a:t>Hands-on demo: connect GitHub using a personal access token (classic), then pull, commit, push, branch and resolve conflicts in Snowsight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Rectangle 2"/>
          <p:cNvSpPr/>
          <p:nvPr/>
        </p:nvSpPr>
        <p:spPr>
          <a:xfrm>
            <a:off x="731520" y="1920240"/>
            <a:ext cx="2285640" cy="72720"/>
          </a:xfrm>
          <a:prstGeom prst="rect">
            <a:avLst/>
          </a:prstGeom>
          <a:solidFill>
            <a:srgbClr val="29B5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29B5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" name="TextBox 2"/>
          <p:cNvSpPr/>
          <p:nvPr/>
        </p:nvSpPr>
        <p:spPr>
          <a:xfrm>
            <a:off x="548640" y="320040"/>
            <a:ext cx="10972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Agenda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3"/>
          <p:cNvSpPr/>
          <p:nvPr/>
        </p:nvSpPr>
        <p:spPr>
          <a:xfrm>
            <a:off x="548640" y="1325880"/>
            <a:ext cx="1106388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What Snowflake Workspaces are, and why you'd connect Git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Architecture: GitHub ↔ Secret + API integration ↔ Git workspace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Prerequisites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Setup: GitHub repo → PAT (classic) → SECRET → API INTEGRATION → grants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Create the Git workspace in Snowsight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Day-to-day: edit → diff → commit &amp; push → pull → fetch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Branches, pull requests and merge conflicts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Limitations, best practices and recap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29B5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" name="TextBox 2"/>
          <p:cNvSpPr/>
          <p:nvPr/>
        </p:nvSpPr>
        <p:spPr>
          <a:xfrm>
            <a:off x="548640" y="320040"/>
            <a:ext cx="10972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What are Snowflake Workspaces?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3"/>
          <p:cNvSpPr/>
          <p:nvPr/>
        </p:nvSpPr>
        <p:spPr>
          <a:xfrm>
            <a:off x="548640" y="1325880"/>
            <a:ext cx="1106388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File-based development environment in Snowsight (Projects » Workspaces)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Holds SQL files, Python files, notebooks, dbt projects, folders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Replacing classic Worksheets as the default SQL editor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Two flavours: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601"/>
              </a:spcAft>
            </a:pPr>
            <a:r>
              <a:rPr lang="en-US" sz="1700" b="0" u="none" strike="noStrike">
                <a:solidFill>
                  <a:srgbClr val="C8D3DE"/>
                </a:solidFill>
                <a:effectLst/>
                <a:uFillTx/>
                <a:latin typeface="Calibri"/>
              </a:rPr>
              <a:t>– Private workspace – owned by you; can be Snowflake-local or Git-backed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601"/>
              </a:spcAft>
            </a:pPr>
            <a:r>
              <a:rPr lang="en-US" sz="1700" b="0" u="none" strike="noStrike">
                <a:solidFill>
                  <a:srgbClr val="C8D3DE"/>
                </a:solidFill>
                <a:effectLst/>
                <a:uFillTx/>
                <a:latin typeface="Calibri"/>
              </a:rPr>
              <a:t>– Shared workspace – owned by a role and shared via RBAC; it can't be Git-backed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A Git workspace syncs with one branch of a remote Git repository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29B5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" name="TextBox 2"/>
          <p:cNvSpPr/>
          <p:nvPr/>
        </p:nvSpPr>
        <p:spPr>
          <a:xfrm>
            <a:off x="548640" y="320040"/>
            <a:ext cx="10972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Why connect Workspaces to Git?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3"/>
          <p:cNvSpPr/>
          <p:nvPr/>
        </p:nvSpPr>
        <p:spPr>
          <a:xfrm>
            <a:off x="548640" y="1325880"/>
            <a:ext cx="1106388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Version control – full history of every SQL/Python change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Collaboration – branches + pull requests + code review on GitHub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Rollback – revert to any previous commit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CI/CD – the same repo can drive deployments (GitHub Actions, dbt, Snowflake CLI)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Single source of truth for code between developers and environments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All from the browser – no local Git client needed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29B5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" name="TextBox 2"/>
          <p:cNvSpPr/>
          <p:nvPr/>
        </p:nvSpPr>
        <p:spPr>
          <a:xfrm>
            <a:off x="548640" y="320040"/>
            <a:ext cx="10972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Architecture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Rounded Rectangle 3"/>
          <p:cNvSpPr/>
          <p:nvPr/>
        </p:nvSpPr>
        <p:spPr>
          <a:xfrm>
            <a:off x="548640" y="1828800"/>
            <a:ext cx="2925720" cy="118836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25400">
            <a:solidFill>
              <a:srgbClr val="29B5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GitHub repo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https://github.com/&lt;user&gt;/&lt;repo&gt;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branch: main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Left-Right Arrow 4"/>
          <p:cNvSpPr/>
          <p:nvPr/>
        </p:nvSpPr>
        <p:spPr>
          <a:xfrm>
            <a:off x="3566160" y="2194560"/>
            <a:ext cx="822600" cy="456840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rgbClr val="29B5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2" name="Rounded Rectangle 5"/>
          <p:cNvSpPr/>
          <p:nvPr/>
        </p:nvSpPr>
        <p:spPr>
          <a:xfrm>
            <a:off x="4480560" y="1828800"/>
            <a:ext cx="2925720" cy="118836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25400">
            <a:solidFill>
              <a:srgbClr val="29B5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API INTEGRATION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API_PROVIDER = git_https_api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ALLOWED_PREFIXES / SECRETS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Left-Right Arrow 6"/>
          <p:cNvSpPr/>
          <p:nvPr/>
        </p:nvSpPr>
        <p:spPr>
          <a:xfrm>
            <a:off x="7498080" y="2194560"/>
            <a:ext cx="822600" cy="456840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rgbClr val="29B5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4" name="Rounded Rectangle 7"/>
          <p:cNvSpPr/>
          <p:nvPr/>
        </p:nvSpPr>
        <p:spPr>
          <a:xfrm>
            <a:off x="8412480" y="1828800"/>
            <a:ext cx="2925720" cy="118836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25400">
            <a:solidFill>
              <a:srgbClr val="29B5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Git Workspace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Snowsight » Projects » Workspaces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Pull · Commit · Push · Branch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Rounded Rectangle 8"/>
          <p:cNvSpPr/>
          <p:nvPr/>
        </p:nvSpPr>
        <p:spPr>
          <a:xfrm>
            <a:off x="4480560" y="3840480"/>
            <a:ext cx="2925720" cy="118836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25400">
            <a:solidFill>
              <a:srgbClr val="FFC85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SECRET (TYPE = PASSWORD)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USERNAME = GitHub user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PASSWORD = ghp_… (PAT classic)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9"/>
          <p:cNvSpPr/>
          <p:nvPr/>
        </p:nvSpPr>
        <p:spPr>
          <a:xfrm>
            <a:off x="548640" y="5486400"/>
            <a:ext cx="1106388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Snowflake reaches GitHub over HTTPS, using the PAT stored in the secret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29B5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" name="TextBox 2"/>
          <p:cNvSpPr/>
          <p:nvPr/>
        </p:nvSpPr>
        <p:spPr>
          <a:xfrm>
            <a:off x="548640" y="320040"/>
            <a:ext cx="10972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Prerequisites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3"/>
          <p:cNvSpPr/>
          <p:nvPr/>
        </p:nvSpPr>
        <p:spPr>
          <a:xfrm>
            <a:off x="548640" y="1325880"/>
            <a:ext cx="1106388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Snowflake account + a role that can CREATE INTEGRATION (e.g. ACCOUNTADMIN)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A database &amp; schema to store the secret (e.g. GIT_DEMO_DB.GIT_SCHEMA)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A warehouse to run SQL (e.g. COMPUTE_WH)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GitHub account and a repository with at least one branch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601"/>
              </a:spcAft>
            </a:pPr>
            <a:r>
              <a:rPr lang="en-US" sz="1700" b="0" u="none" strike="noStrike">
                <a:solidFill>
                  <a:srgbClr val="C8D3DE"/>
                </a:solidFill>
                <a:effectLst/>
                <a:uFillTx/>
                <a:latin typeface="Calibri"/>
              </a:rPr>
              <a:t>– An empty repo won't work, so tick 'Add a README' when you create it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601"/>
              </a:spcAft>
            </a:pPr>
            <a:r>
              <a:rPr lang="en-US" sz="1700" b="0" u="none" strike="noStrike">
                <a:solidFill>
                  <a:srgbClr val="C8D3DE"/>
                </a:solidFill>
                <a:effectLst/>
                <a:uFillTx/>
                <a:latin typeface="Calibri"/>
              </a:rPr>
              <a:t>– The repo must be smaller than 2 GB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GitHub personal access token (classic) with the 'repo' scope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29B5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1" name="TextBox 2"/>
          <p:cNvSpPr/>
          <p:nvPr/>
        </p:nvSpPr>
        <p:spPr>
          <a:xfrm>
            <a:off x="548640" y="320040"/>
            <a:ext cx="10972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29B5E8"/>
                </a:solidFill>
                <a:effectLst/>
                <a:uFillTx/>
                <a:latin typeface="Calibri"/>
              </a:rPr>
              <a:t>STEP 1  </a:t>
            </a: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Create the GitHub repository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Box 3"/>
          <p:cNvSpPr/>
          <p:nvPr/>
        </p:nvSpPr>
        <p:spPr>
          <a:xfrm>
            <a:off x="548640" y="1325880"/>
            <a:ext cx="11063880" cy="438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Sign in to github.com → click + (top right) → New repository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Repository name: snowflake-git-integration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Choose Private (or Public)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Tick 'Add a README file' so the main branch exists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Click Create repository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Click Code → HTTPS → copy the URL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601"/>
              </a:spcAft>
            </a:pPr>
            <a:r>
              <a:rPr lang="en-US" sz="1700" b="0" u="none" strike="noStrike">
                <a:solidFill>
                  <a:srgbClr val="C8D3DE"/>
                </a:solidFill>
                <a:effectLst/>
                <a:uFillTx/>
                <a:latin typeface="Calibri"/>
              </a:rPr>
              <a:t>– https://github.com/&lt;your-user&gt;/snowflake-git-integration.git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Rounded Rectangle 4"/>
          <p:cNvSpPr/>
          <p:nvPr/>
        </p:nvSpPr>
        <p:spPr>
          <a:xfrm>
            <a:off x="548640" y="5897880"/>
            <a:ext cx="11063880" cy="639720"/>
          </a:xfrm>
          <a:prstGeom prst="roundRect">
            <a:avLst>
              <a:gd name="adj" fmla="val 16667"/>
            </a:avLst>
          </a:prstGeom>
          <a:solidFill>
            <a:srgbClr val="3A2F10"/>
          </a:solidFill>
          <a:ln>
            <a:solidFill>
              <a:srgbClr val="FFC85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C857"/>
                </a:solidFill>
                <a:effectLst/>
                <a:uFillTx/>
                <a:latin typeface="Calibri"/>
              </a:rPr>
              <a:t>ON SCREEN:  </a:t>
            </a: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GitHub › New repository page › tick README › copy the HTTPS URL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29B5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5" name="TextBox 2"/>
          <p:cNvSpPr/>
          <p:nvPr/>
        </p:nvSpPr>
        <p:spPr>
          <a:xfrm>
            <a:off x="548640" y="320040"/>
            <a:ext cx="10972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29B5E8"/>
                </a:solidFill>
                <a:effectLst/>
                <a:uFillTx/>
                <a:latin typeface="Calibri"/>
              </a:rPr>
              <a:t>STEP 2  </a:t>
            </a: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Generate a personal access token (classic)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3"/>
          <p:cNvSpPr/>
          <p:nvPr/>
        </p:nvSpPr>
        <p:spPr>
          <a:xfrm>
            <a:off x="548640" y="1325880"/>
            <a:ext cx="11063880" cy="438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GitHub → profile photo → Settings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Developer settings (bottom of the left menu) → Personal access tokens → Tokens (classic)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Generate new token → Generate new token (classic)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Note: snowflake-workspace   |   Expiration: 30/60/90 days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Select scopes: ☑ repo (full control of private repositories)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601"/>
              </a:spcAft>
            </a:pPr>
            <a:r>
              <a:rPr lang="en-US" sz="1700" b="0" u="none" strike="noStrike">
                <a:solidFill>
                  <a:srgbClr val="C8D3DE"/>
                </a:solidFill>
                <a:effectLst/>
                <a:uFillTx/>
                <a:latin typeface="Calibri"/>
              </a:rPr>
              <a:t>– Add ☑ workflow if the repo contains GitHub Actions files you'll edit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Click Generate token → copy it now (ghp_…). GitHub only shows it once.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Rounded Rectangle 4"/>
          <p:cNvSpPr/>
          <p:nvPr/>
        </p:nvSpPr>
        <p:spPr>
          <a:xfrm>
            <a:off x="548640" y="5897880"/>
            <a:ext cx="11063880" cy="639720"/>
          </a:xfrm>
          <a:prstGeom prst="roundRect">
            <a:avLst>
              <a:gd name="adj" fmla="val 16667"/>
            </a:avLst>
          </a:prstGeom>
          <a:solidFill>
            <a:srgbClr val="3A2F10"/>
          </a:solidFill>
          <a:ln>
            <a:solidFill>
              <a:srgbClr val="FFC85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C857"/>
                </a:solidFill>
                <a:effectLst/>
                <a:uFillTx/>
                <a:latin typeface="Calibri"/>
              </a:rPr>
              <a:t>ON SCREEN:  </a:t>
            </a: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GitHub › Settings › Developer settings › Tokens (classic) › blur the token on camera!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29B5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9" name="TextBox 2"/>
          <p:cNvSpPr/>
          <p:nvPr/>
        </p:nvSpPr>
        <p:spPr>
          <a:xfrm>
            <a:off x="548640" y="320040"/>
            <a:ext cx="10972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29B5E8"/>
                </a:solidFill>
                <a:effectLst/>
                <a:uFillTx/>
                <a:latin typeface="Calibri"/>
              </a:rPr>
              <a:t>STEP 3  </a:t>
            </a: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Create a database, schema &amp; SECRET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Rounded Rectangle 3"/>
          <p:cNvSpPr/>
          <p:nvPr/>
        </p:nvSpPr>
        <p:spPr>
          <a:xfrm>
            <a:off x="548640" y="1325880"/>
            <a:ext cx="11063880" cy="42973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solidFill>
              <a:srgbClr val="29B5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tIns="18288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onsolas"/>
              </a:rPr>
              <a:t>USE ROLE ACCOUNTADMIN;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onsolas"/>
              </a:rPr>
              <a:t>USE WAREHOUSE COMPUTE_WH;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onsolas"/>
              </a:rPr>
              <a:t>CREATE DATABASE IF NOT EXISTS GIT_DEMO_DB;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onsolas"/>
              </a:rPr>
              <a:t>CREATE SCHEMA  IF NOT EXISTS GIT_DEMO_DB.GIT_SCHEMA;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9B5E8"/>
                </a:solidFill>
                <a:effectLst/>
                <a:uFillTx/>
                <a:latin typeface="Consolas"/>
              </a:rPr>
              <a:t>-- Store the GitHub username + PAT (classic)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onsolas"/>
              </a:rPr>
              <a:t>CREATE OR REPLACE SECRET GIT_DEMO_DB.GIT_SCHEMA.GITHUB_PAT_SECRET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onsolas"/>
              </a:rPr>
              <a:t>  TYPE     = PASSWORD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onsolas"/>
              </a:rPr>
              <a:t>  USERNAME = '&lt;your-github-username&gt;'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onsolas"/>
              </a:rPr>
              <a:t>  PASSWORD = 'ghp_xxxxxxxxxxxxxxxxxxxxxxxxxxxx';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onsolas"/>
              </a:rPr>
              <a:t>SHOW SECRETS IN SCHEMA GIT_DEMO_DB.GIT_SCHEMA;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Rounded Rectangle 4"/>
          <p:cNvSpPr/>
          <p:nvPr/>
        </p:nvSpPr>
        <p:spPr>
          <a:xfrm>
            <a:off x="548640" y="5897880"/>
            <a:ext cx="11063880" cy="639720"/>
          </a:xfrm>
          <a:prstGeom prst="roundRect">
            <a:avLst>
              <a:gd name="adj" fmla="val 16667"/>
            </a:avLst>
          </a:prstGeom>
          <a:solidFill>
            <a:srgbClr val="3A2F10"/>
          </a:solidFill>
          <a:ln>
            <a:solidFill>
              <a:srgbClr val="FFC85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C857"/>
                </a:solidFill>
                <a:effectLst/>
                <a:uFillTx/>
                <a:latin typeface="Calibri"/>
              </a:rPr>
              <a:t>ON SCREEN:  </a:t>
            </a: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Run in a SQL file; the secret value is never shown again (DESCRIBE SECRET hides it)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29B5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" name="TextBox 2"/>
          <p:cNvSpPr/>
          <p:nvPr/>
        </p:nvSpPr>
        <p:spPr>
          <a:xfrm>
            <a:off x="548640" y="320040"/>
            <a:ext cx="10972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29B5E8"/>
                </a:solidFill>
                <a:effectLst/>
                <a:uFillTx/>
                <a:latin typeface="Calibri"/>
              </a:rPr>
              <a:t>STEP 4  </a:t>
            </a: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Create the API INTEGRATION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Rounded Rectangle 3"/>
          <p:cNvSpPr/>
          <p:nvPr/>
        </p:nvSpPr>
        <p:spPr>
          <a:xfrm>
            <a:off x="548640" y="1325880"/>
            <a:ext cx="11063880" cy="26514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solidFill>
              <a:srgbClr val="29B5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tIns="18288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onsolas"/>
              </a:rPr>
              <a:t>CREATE OR REPLACE API INTEGRATION GITHUB_API_INTEGRATION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onsolas"/>
              </a:rPr>
              <a:t>  API_PROVIDER                 = git_https_api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onsolas"/>
              </a:rPr>
              <a:t>  API_ALLOWED_PREFIXES         = ('https://github.com/&lt;your-github-username&gt;')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onsolas"/>
              </a:rPr>
              <a:t>  ALLOWED_AUTHENTICATION_SECRETS = (GIT_DEMO_DB.GIT_SCHEMA.GITHUB_PAT_SECRET)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onsolas"/>
              </a:rPr>
              <a:t>  ENABLED = TRUE;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onsolas"/>
              </a:rPr>
              <a:t>DESCRIBE INTEGRATION GITHUB_API_INTEGRATION;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Box 4"/>
          <p:cNvSpPr/>
          <p:nvPr/>
        </p:nvSpPr>
        <p:spPr>
          <a:xfrm>
            <a:off x="548640" y="4114800"/>
            <a:ext cx="110638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API_PROVIDER = git_https_api → tells Snowflake this integration is for Git over HTTPS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API_ALLOWED_PREFIXES → only repos under this URL are allowed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ALLOWED_AUTHENTICATION_SECRETS → secrets the integration may use (or = all)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Rounded Rectangle 5"/>
          <p:cNvSpPr/>
          <p:nvPr/>
        </p:nvSpPr>
        <p:spPr>
          <a:xfrm>
            <a:off x="548640" y="5897880"/>
            <a:ext cx="11063880" cy="639720"/>
          </a:xfrm>
          <a:prstGeom prst="roundRect">
            <a:avLst>
              <a:gd name="adj" fmla="val 16667"/>
            </a:avLst>
          </a:prstGeom>
          <a:solidFill>
            <a:srgbClr val="3A2F10"/>
          </a:solidFill>
          <a:ln>
            <a:solidFill>
              <a:srgbClr val="FFC85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C857"/>
                </a:solidFill>
                <a:effectLst/>
                <a:uFillTx/>
                <a:latin typeface="Calibri"/>
              </a:rPr>
              <a:t>ON SCREEN:  </a:t>
            </a: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Run the SQL › show DESCRIBE INTEGRATION output (ENABLED = true)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29B5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8" name="TextBox 2"/>
          <p:cNvSpPr/>
          <p:nvPr/>
        </p:nvSpPr>
        <p:spPr>
          <a:xfrm>
            <a:off x="548640" y="320040"/>
            <a:ext cx="10972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29B5E8"/>
                </a:solidFill>
                <a:effectLst/>
                <a:uFillTx/>
                <a:latin typeface="Calibri"/>
              </a:rPr>
              <a:t>STEP 5  </a:t>
            </a: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Grant access (if you use a non-admin role)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Rounded Rectangle 3"/>
          <p:cNvSpPr/>
          <p:nvPr/>
        </p:nvSpPr>
        <p:spPr>
          <a:xfrm>
            <a:off x="548640" y="1325880"/>
            <a:ext cx="11063880" cy="301716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solidFill>
              <a:srgbClr val="29B5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tIns="18288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29B5E8"/>
                </a:solidFill>
                <a:effectLst/>
                <a:uFillTx/>
                <a:latin typeface="Consolas"/>
              </a:rPr>
              <a:t>-- Optional: let a developer role use the integration &amp; secret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onsolas"/>
              </a:rPr>
              <a:t>CREATE ROLE IF NOT EXISTS GIT_DEV_ROLE;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onsolas"/>
              </a:rPr>
              <a:t>GRANT USAGE ON INTEGRATION GITHUB_API_INTEGRATION        TO ROLE GIT_DEV_ROLE;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onsolas"/>
              </a:rPr>
              <a:t>GRANT USAGE ON DATABASE GIT_DEMO_DB                      TO ROLE GIT_DEV_ROLE;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onsolas"/>
              </a:rPr>
              <a:t>GRANT USAGE ON SCHEMA   GIT_DEMO_DB.GIT_SCHEMA           TO ROLE GIT_DEV_ROLE;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onsolas"/>
              </a:rPr>
              <a:t>GRANT USAGE ON SECRET   GIT_DEMO_DB.GIT_SCHEMA.GITHUB_PAT_SECRET TO ROLE GIT_DEV_ROLE;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onsolas"/>
              </a:rPr>
              <a:t>GRANT USAGE ON WAREHOUSE COMPUTE_WH                      TO ROLE GIT_DEV_ROLE;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onsolas"/>
              </a:rPr>
              <a:t>GRANT ROLE GIT_DEV_ROLE TO USER &lt;your_user&gt;;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Box 4"/>
          <p:cNvSpPr/>
          <p:nvPr/>
        </p:nvSpPr>
        <p:spPr>
          <a:xfrm>
            <a:off x="548640" y="4480560"/>
            <a:ext cx="1106388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The role picked in the Snowsight user menu (bottom-left → Switch role) decides which integrations &amp; secrets you see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Changing the execution role inside a SQL file does NOT change this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Rounded Rectangle 5"/>
          <p:cNvSpPr/>
          <p:nvPr/>
        </p:nvSpPr>
        <p:spPr>
          <a:xfrm>
            <a:off x="548640" y="5897880"/>
            <a:ext cx="11063880" cy="639720"/>
          </a:xfrm>
          <a:prstGeom prst="roundRect">
            <a:avLst>
              <a:gd name="adj" fmla="val 16667"/>
            </a:avLst>
          </a:prstGeom>
          <a:solidFill>
            <a:srgbClr val="3A2F10"/>
          </a:solidFill>
          <a:ln>
            <a:solidFill>
              <a:srgbClr val="FFC85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C857"/>
                </a:solidFill>
                <a:effectLst/>
                <a:uFillTx/>
                <a:latin typeface="Calibri"/>
              </a:rPr>
              <a:t>ON SCREEN:  </a:t>
            </a: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Skip this if you demo with ACCOUNTADMIN; mention it for real projects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29B5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3" name="TextBox 2"/>
          <p:cNvSpPr/>
          <p:nvPr/>
        </p:nvSpPr>
        <p:spPr>
          <a:xfrm>
            <a:off x="548640" y="320040"/>
            <a:ext cx="10972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29B5E8"/>
                </a:solidFill>
                <a:effectLst/>
                <a:uFillTx/>
                <a:latin typeface="Calibri"/>
              </a:rPr>
              <a:t>STEP 6  </a:t>
            </a: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Create the workspace from the Git repository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Box 3"/>
          <p:cNvSpPr/>
          <p:nvPr/>
        </p:nvSpPr>
        <p:spPr>
          <a:xfrm>
            <a:off x="548640" y="1325880"/>
            <a:ext cx="11063880" cy="448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Snowsight → Projects » Workspaces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Open the Workspaces menu (top-left) → From Git repository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Repository URL: paste https://github.com/&lt;user&gt;/snowflake-git-integration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Workspace name: snowflake-git-integration (optional rename)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API Integration: GITHUB_API_INTEGRATION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Authentication: Personal access token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601"/>
              </a:spcAft>
            </a:pPr>
            <a:r>
              <a:rPr lang="en-US" sz="1700" b="0" u="none" strike="noStrike">
                <a:solidFill>
                  <a:srgbClr val="C8D3DE"/>
                </a:solidFill>
                <a:effectLst/>
                <a:uFillTx/>
                <a:latin typeface="Calibri"/>
              </a:rPr>
              <a:t>– Pick database GIT_DEMO_DB, schema GIT_SCHEMA, secret GITHUB_PAT_SECRET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601"/>
              </a:spcAft>
            </a:pPr>
            <a:r>
              <a:rPr lang="en-US" sz="1700" b="0" u="none" strike="noStrike">
                <a:solidFill>
                  <a:srgbClr val="C8D3DE"/>
                </a:solidFill>
                <a:effectLst/>
                <a:uFillTx/>
                <a:latin typeface="Calibri"/>
              </a:rPr>
              <a:t>– (or click + Secret to create one right here)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Click Create → files from the main branch appear in the file explorer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Rounded Rectangle 4"/>
          <p:cNvSpPr/>
          <p:nvPr/>
        </p:nvSpPr>
        <p:spPr>
          <a:xfrm>
            <a:off x="548640" y="5897880"/>
            <a:ext cx="11063880" cy="639720"/>
          </a:xfrm>
          <a:prstGeom prst="roundRect">
            <a:avLst>
              <a:gd name="adj" fmla="val 16667"/>
            </a:avLst>
          </a:prstGeom>
          <a:solidFill>
            <a:srgbClr val="3A2F10"/>
          </a:solidFill>
          <a:ln>
            <a:solidFill>
              <a:srgbClr val="FFC85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C857"/>
                </a:solidFill>
                <a:effectLst/>
                <a:uFillTx/>
                <a:latin typeface="Calibri"/>
              </a:rPr>
              <a:t>ON SCREEN:  </a:t>
            </a: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Fill the dialog slowly, field by field; show the README appearing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29B5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7" name="TextBox 2"/>
          <p:cNvSpPr/>
          <p:nvPr/>
        </p:nvSpPr>
        <p:spPr>
          <a:xfrm>
            <a:off x="548640" y="320040"/>
            <a:ext cx="10972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29B5E8"/>
                </a:solidFill>
                <a:effectLst/>
                <a:uFillTx/>
                <a:latin typeface="Calibri"/>
              </a:rPr>
              <a:t>STEP 7  </a:t>
            </a: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Explore the Git workspace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Box 3"/>
          <p:cNvSpPr/>
          <p:nvPr/>
        </p:nvSpPr>
        <p:spPr>
          <a:xfrm>
            <a:off x="548640" y="1325880"/>
            <a:ext cx="1106388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File explorer shows the repo contents (README.md…)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Top of the folder view: Files  |  Changes tabs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Changes tab shows: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601"/>
              </a:spcAft>
            </a:pPr>
            <a:r>
              <a:rPr lang="en-US" sz="1700" b="0" u="none" strike="noStrike">
                <a:solidFill>
                  <a:srgbClr val="C8D3DE"/>
                </a:solidFill>
                <a:effectLst/>
                <a:uFillTx/>
                <a:latin typeface="Calibri"/>
              </a:rPr>
              <a:t>– Current branch dropdown (main)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601"/>
              </a:spcAft>
            </a:pPr>
            <a:r>
              <a:rPr lang="en-US" sz="1700" b="0" u="none" strike="noStrike">
                <a:solidFill>
                  <a:srgbClr val="C8D3DE"/>
                </a:solidFill>
                <a:effectLst/>
                <a:uFillTx/>
                <a:latin typeface="Calibri"/>
              </a:rPr>
              <a:t>– Pull button (with the Fetch All dropdown)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601"/>
              </a:spcAft>
            </a:pPr>
            <a:r>
              <a:rPr lang="en-US" sz="1700" b="0" u="none" strike="noStrike">
                <a:solidFill>
                  <a:srgbClr val="C8D3DE"/>
                </a:solidFill>
                <a:effectLst/>
                <a:uFillTx/>
                <a:latin typeface="Calibri"/>
              </a:rPr>
              <a:t>– Commit message box + Push button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601"/>
              </a:spcAft>
            </a:pPr>
            <a:r>
              <a:rPr lang="en-US" sz="1700" b="0" u="none" strike="noStrike">
                <a:solidFill>
                  <a:srgbClr val="C8D3DE"/>
                </a:solidFill>
                <a:effectLst/>
                <a:uFillTx/>
                <a:latin typeface="Calibri"/>
              </a:rPr>
              <a:t>– ⋯ menu → Edit credentials (commit author name / email)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Set the author: Changes → ⋯ → Edit credentials → name + email → Update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Rounded Rectangle 4"/>
          <p:cNvSpPr/>
          <p:nvPr/>
        </p:nvSpPr>
        <p:spPr>
          <a:xfrm>
            <a:off x="548640" y="5897880"/>
            <a:ext cx="11063880" cy="639720"/>
          </a:xfrm>
          <a:prstGeom prst="roundRect">
            <a:avLst>
              <a:gd name="adj" fmla="val 16667"/>
            </a:avLst>
          </a:prstGeom>
          <a:solidFill>
            <a:srgbClr val="3A2F10"/>
          </a:solidFill>
          <a:ln>
            <a:solidFill>
              <a:srgbClr val="FFC85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C857"/>
                </a:solidFill>
                <a:effectLst/>
                <a:uFillTx/>
                <a:latin typeface="Calibri"/>
              </a:rPr>
              <a:t>ON SCREEN:  </a:t>
            </a: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Click around the Changes tab; set the author to match your GitHub email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29B5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1" name="TextBox 2"/>
          <p:cNvSpPr/>
          <p:nvPr/>
        </p:nvSpPr>
        <p:spPr>
          <a:xfrm>
            <a:off x="548640" y="320040"/>
            <a:ext cx="10972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29B5E8"/>
                </a:solidFill>
                <a:effectLst/>
                <a:uFillTx/>
                <a:latin typeface="Calibri"/>
              </a:rPr>
              <a:t>STEP 8  </a:t>
            </a: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Add a file and run it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Box 3"/>
          <p:cNvSpPr/>
          <p:nvPr/>
        </p:nvSpPr>
        <p:spPr>
          <a:xfrm>
            <a:off x="548640" y="1325880"/>
            <a:ext cx="11063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Click + → SQL File → name it CUSTOMER_LOAD.SQL, then paste: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Rounded Rectangle 4"/>
          <p:cNvSpPr/>
          <p:nvPr/>
        </p:nvSpPr>
        <p:spPr>
          <a:xfrm>
            <a:off x="548640" y="1920240"/>
            <a:ext cx="11063880" cy="329148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solidFill>
              <a:srgbClr val="29B5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tIns="18288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onsolas"/>
              </a:rPr>
              <a:t>USE ROLE ACCOUNTADMIN;  USE WAREHOUSE COMPUTE_WH;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onsolas"/>
              </a:rPr>
              <a:t>CREATE OR REPLACE TABLE GIT_DEMO_DB.GIT_SCHEMA.CUSTOMER (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onsolas"/>
              </a:rPr>
              <a:t>  CUSTOMER_ID INT, CUSTOMER_NAME STRING, CITY STRING, CREATED_AT TIMESTAMP_NTZ);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onsolas"/>
              </a:rPr>
              <a:t>INSERT INTO GIT_DEMO_DB.GIT_SCHEMA.CUSTOMER VALUES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onsolas"/>
              </a:rPr>
              <a:t>  (1,'Asha','Mumbai',CURRENT_TIMESTAMP()),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onsolas"/>
              </a:rPr>
              <a:t>  (2,'John','London',CURRENT_TIMESTAMP()),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onsolas"/>
              </a:rPr>
              <a:t>  (3,'Mei','Singapore',CURRENT_TIMESTAMP());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onsolas"/>
              </a:rPr>
              <a:t>SELECT * FROM GIT_DEMO_DB.GIT_SCHEMA.CUSTOMER;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Box 5"/>
          <p:cNvSpPr/>
          <p:nvPr/>
        </p:nvSpPr>
        <p:spPr>
          <a:xfrm>
            <a:off x="548640" y="5303520"/>
            <a:ext cx="11063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Run All (Ctrl/Cmd + Shift + Enter) → check the results pane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Rounded Rectangle 6"/>
          <p:cNvSpPr/>
          <p:nvPr/>
        </p:nvSpPr>
        <p:spPr>
          <a:xfrm>
            <a:off x="548640" y="5897880"/>
            <a:ext cx="11063880" cy="639720"/>
          </a:xfrm>
          <a:prstGeom prst="roundRect">
            <a:avLst>
              <a:gd name="adj" fmla="val 16667"/>
            </a:avLst>
          </a:prstGeom>
          <a:solidFill>
            <a:srgbClr val="3A2F10"/>
          </a:solidFill>
          <a:ln>
            <a:solidFill>
              <a:srgbClr val="FFC85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C857"/>
                </a:solidFill>
                <a:effectLst/>
                <a:uFillTx/>
                <a:latin typeface="Calibri"/>
              </a:rPr>
              <a:t>ON SCREEN:  </a:t>
            </a: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The file shows as A (Added) in the Changes tab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29B5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" name="TextBox 2"/>
          <p:cNvSpPr/>
          <p:nvPr/>
        </p:nvSpPr>
        <p:spPr>
          <a:xfrm>
            <a:off x="548640" y="320040"/>
            <a:ext cx="10972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29B5E8"/>
                </a:solidFill>
                <a:effectLst/>
                <a:uFillTx/>
                <a:latin typeface="Calibri"/>
              </a:rPr>
              <a:t>STEP 9  </a:t>
            </a: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Review changes and the diff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Box 3"/>
          <p:cNvSpPr/>
          <p:nvPr/>
        </p:nvSpPr>
        <p:spPr>
          <a:xfrm>
            <a:off x="548640" y="1325880"/>
            <a:ext cx="1106388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Open the Changes tab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Status markers: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601"/>
              </a:spcAft>
            </a:pPr>
            <a:r>
              <a:rPr lang="en-US" sz="1700" b="0" u="none" strike="noStrike">
                <a:solidFill>
                  <a:srgbClr val="C8D3DE"/>
                </a:solidFill>
                <a:effectLst/>
                <a:uFillTx/>
                <a:latin typeface="Calibri"/>
              </a:rPr>
              <a:t>– A = Added    M = Modified    D = Deleted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Click a file → visual diff opens in the editor (old vs new)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Now edit README.md: add a line 'Demo of Snowflake Git Workspaces' → it shows M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Check the diff before every commit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Rounded Rectangle 4"/>
          <p:cNvSpPr/>
          <p:nvPr/>
        </p:nvSpPr>
        <p:spPr>
          <a:xfrm>
            <a:off x="548640" y="5897880"/>
            <a:ext cx="11063880" cy="639720"/>
          </a:xfrm>
          <a:prstGeom prst="roundRect">
            <a:avLst>
              <a:gd name="adj" fmla="val 16667"/>
            </a:avLst>
          </a:prstGeom>
          <a:solidFill>
            <a:srgbClr val="3A2F10"/>
          </a:solidFill>
          <a:ln>
            <a:solidFill>
              <a:srgbClr val="FFC85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29B5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1" name="TextBox 2"/>
          <p:cNvSpPr/>
          <p:nvPr/>
        </p:nvSpPr>
        <p:spPr>
          <a:xfrm>
            <a:off x="548640" y="320040"/>
            <a:ext cx="10972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29B5E8"/>
                </a:solidFill>
                <a:effectLst/>
                <a:uFillTx/>
                <a:latin typeface="Calibri"/>
              </a:rPr>
              <a:t>STEP 10  </a:t>
            </a: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Commit &amp; push to GitHub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Box 3"/>
          <p:cNvSpPr/>
          <p:nvPr/>
        </p:nvSpPr>
        <p:spPr>
          <a:xfrm>
            <a:off x="548640" y="1325880"/>
            <a:ext cx="1106388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Changes tab → type a commit message: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601"/>
              </a:spcAft>
            </a:pPr>
            <a:r>
              <a:rPr lang="en-US" sz="1700" b="0" u="none" strike="noStrike">
                <a:solidFill>
                  <a:srgbClr val="C8D3DE"/>
                </a:solidFill>
                <a:effectLst/>
                <a:uFillTx/>
                <a:latin typeface="Calibri"/>
              </a:rPr>
              <a:t>– 'Add CUSTOMER_LOAD.SQL and update README'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Click Push (in Workspaces, commit and push are one action)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If the remote has newer commits, you're asked to Pull first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Verify on GitHub: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601"/>
              </a:spcAft>
            </a:pPr>
            <a:r>
              <a:rPr lang="en-US" sz="1700" b="0" u="none" strike="noStrike">
                <a:solidFill>
                  <a:srgbClr val="C8D3DE"/>
                </a:solidFill>
                <a:effectLst/>
                <a:uFillTx/>
                <a:latin typeface="Calibri"/>
              </a:rPr>
              <a:t>– Refresh the repo page → new file + README change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601"/>
              </a:spcAft>
            </a:pPr>
            <a:r>
              <a:rPr lang="en-US" sz="1700" b="0" u="none" strike="noStrike">
                <a:solidFill>
                  <a:srgbClr val="C8D3DE"/>
                </a:solidFill>
                <a:effectLst/>
                <a:uFillTx/>
                <a:latin typeface="Calibri"/>
              </a:rPr>
              <a:t>– Commits tab → your message, author and timestamp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Rounded Rectangle 4"/>
          <p:cNvSpPr/>
          <p:nvPr/>
        </p:nvSpPr>
        <p:spPr>
          <a:xfrm>
            <a:off x="548640" y="5897880"/>
            <a:ext cx="11063880" cy="639720"/>
          </a:xfrm>
          <a:prstGeom prst="roundRect">
            <a:avLst>
              <a:gd name="adj" fmla="val 16667"/>
            </a:avLst>
          </a:prstGeom>
          <a:solidFill>
            <a:srgbClr val="3A2F10"/>
          </a:solidFill>
          <a:ln>
            <a:solidFill>
              <a:srgbClr val="FFC85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C857"/>
                </a:solidFill>
                <a:effectLst/>
                <a:uFillTx/>
                <a:latin typeface="Calibri"/>
              </a:rPr>
              <a:t>ON SCREEN:  </a:t>
            </a: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Split screen: Snowsight push → GitHub refresh shows the commit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29B5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5" name="TextBox 2"/>
          <p:cNvSpPr/>
          <p:nvPr/>
        </p:nvSpPr>
        <p:spPr>
          <a:xfrm>
            <a:off x="548640" y="320040"/>
            <a:ext cx="10972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29B5E8"/>
                </a:solidFill>
                <a:effectLst/>
                <a:uFillTx/>
                <a:latin typeface="Calibri"/>
              </a:rPr>
              <a:t>STEP 11  </a:t>
            </a: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Pull changes made on GitHub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Box 3"/>
          <p:cNvSpPr/>
          <p:nvPr/>
        </p:nvSpPr>
        <p:spPr>
          <a:xfrm>
            <a:off x="548640" y="1325880"/>
            <a:ext cx="1106388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On GitHub: open CUSTOMER_LOAD.SQL → ✏ Edit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601"/>
              </a:spcAft>
            </a:pPr>
            <a:r>
              <a:rPr lang="en-US" sz="1700" b="0" u="none" strike="noStrike">
                <a:solidFill>
                  <a:srgbClr val="C8D3DE"/>
                </a:solidFill>
                <a:effectLst/>
                <a:uFillTx/>
                <a:latin typeface="Calibri"/>
              </a:rPr>
              <a:t>– Add a row: (4,'Carlos','Madrid',CURRENT_TIMESTAMP())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601"/>
              </a:spcAft>
            </a:pPr>
            <a:r>
              <a:rPr lang="en-US" sz="1700" b="0" u="none" strike="noStrike">
                <a:solidFill>
                  <a:srgbClr val="C8D3DE"/>
                </a:solidFill>
                <a:effectLst/>
                <a:uFillTx/>
                <a:latin typeface="Calibri"/>
              </a:rPr>
              <a:t>– Commit changes directly to main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Back in Snowsight → Changes tab → Pull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The file updates with the new row → Run it again → 4 rows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Fetch All (dropdown next to Pull) → picks up branches created on GitHub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Rounded Rectangle 4"/>
          <p:cNvSpPr/>
          <p:nvPr/>
        </p:nvSpPr>
        <p:spPr>
          <a:xfrm>
            <a:off x="548640" y="5897880"/>
            <a:ext cx="11063880" cy="639720"/>
          </a:xfrm>
          <a:prstGeom prst="roundRect">
            <a:avLst>
              <a:gd name="adj" fmla="val 16667"/>
            </a:avLst>
          </a:prstGeom>
          <a:solidFill>
            <a:srgbClr val="3A2F10"/>
          </a:solidFill>
          <a:ln>
            <a:solidFill>
              <a:srgbClr val="FFC85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C857"/>
                </a:solidFill>
                <a:effectLst/>
                <a:uFillTx/>
                <a:latin typeface="Calibri"/>
              </a:rPr>
              <a:t>ON SCREEN:  </a:t>
            </a: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Edit on GitHub → Pull in Snowsight → re-run the query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29B5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9" name="TextBox 2"/>
          <p:cNvSpPr/>
          <p:nvPr/>
        </p:nvSpPr>
        <p:spPr>
          <a:xfrm>
            <a:off x="548640" y="320040"/>
            <a:ext cx="10972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29B5E8"/>
                </a:solidFill>
                <a:effectLst/>
                <a:uFillTx/>
                <a:latin typeface="Calibri"/>
              </a:rPr>
              <a:t>STEP 12  </a:t>
            </a: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Branches &amp; pull requests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Box 3"/>
          <p:cNvSpPr/>
          <p:nvPr/>
        </p:nvSpPr>
        <p:spPr>
          <a:xfrm>
            <a:off x="548640" y="1325880"/>
            <a:ext cx="1106388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Changes tab → branch dropdown → + New → name: feature/add-email → Create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Edit CUSTOMER_LOAD.SQL: add an EMAIL STRING column → Push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Switch branches with the same dropdown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601"/>
              </a:spcAft>
            </a:pPr>
            <a:r>
              <a:rPr lang="en-US" sz="1700" b="0" u="none" strike="noStrike">
                <a:solidFill>
                  <a:srgbClr val="C8D3DE"/>
                </a:solidFill>
                <a:effectLst/>
                <a:uFillTx/>
                <a:latin typeface="Calibri"/>
              </a:rPr>
              <a:t>– If you have uncommitted changes, you'll be asked how to handle them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On GitHub: 'Compare &amp; pull request' → review → Merge pull request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Back in Snowsight: switch to main → Pull → the merged change arrives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Delete the feature branch on GitHub when you're done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Rounded Rectangle 4"/>
          <p:cNvSpPr/>
          <p:nvPr/>
        </p:nvSpPr>
        <p:spPr>
          <a:xfrm>
            <a:off x="548640" y="5897880"/>
            <a:ext cx="11063880" cy="639720"/>
          </a:xfrm>
          <a:prstGeom prst="roundRect">
            <a:avLst>
              <a:gd name="adj" fmla="val 16667"/>
            </a:avLst>
          </a:prstGeom>
          <a:solidFill>
            <a:srgbClr val="3A2F10"/>
          </a:solidFill>
          <a:ln>
            <a:solidFill>
              <a:srgbClr val="FFC85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29B5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3" name="TextBox 2"/>
          <p:cNvSpPr/>
          <p:nvPr/>
        </p:nvSpPr>
        <p:spPr>
          <a:xfrm>
            <a:off x="548640" y="320040"/>
            <a:ext cx="10972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29B5E8"/>
                </a:solidFill>
                <a:effectLst/>
                <a:uFillTx/>
                <a:latin typeface="Calibri"/>
              </a:rPr>
              <a:t>STEP 13  </a:t>
            </a: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Create &amp; resolve a merge conflict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Box 3"/>
          <p:cNvSpPr/>
          <p:nvPr/>
        </p:nvSpPr>
        <p:spPr>
          <a:xfrm>
            <a:off x="548640" y="1325880"/>
            <a:ext cx="1106388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Create the conflict: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601"/>
              </a:spcAft>
            </a:pPr>
            <a:r>
              <a:rPr lang="en-US" sz="1700" b="0" u="none" strike="noStrike">
                <a:solidFill>
                  <a:srgbClr val="C8D3DE"/>
                </a:solidFill>
                <a:effectLst/>
                <a:uFillTx/>
                <a:latin typeface="Calibri"/>
              </a:rPr>
              <a:t>– On GitHub, edit line 1 of README.md → commit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601"/>
              </a:spcAft>
            </a:pPr>
            <a:r>
              <a:rPr lang="en-US" sz="1700" b="0" u="none" strike="noStrike">
                <a:solidFill>
                  <a:srgbClr val="C8D3DE"/>
                </a:solidFill>
                <a:effectLst/>
                <a:uFillTx/>
                <a:latin typeface="Calibri"/>
              </a:rPr>
              <a:t>– In Snowsight, edit the same line differently → Push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Snowsight asks you to Pull → conflicting files show a red M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Click the file → File with conflicts view highlights the differences inline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601"/>
              </a:spcAft>
            </a:pPr>
            <a:r>
              <a:rPr lang="en-US" sz="1700" b="0" u="none" strike="noStrike">
                <a:solidFill>
                  <a:srgbClr val="C8D3DE"/>
                </a:solidFill>
                <a:effectLst/>
                <a:uFillTx/>
                <a:latin typeface="Calibri"/>
              </a:rPr>
              <a:t>– For each hunk: Accept current, Accept incoming, or Accept both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601"/>
              </a:spcAft>
            </a:pPr>
            <a:r>
              <a:rPr lang="en-US" sz="1700" b="0" u="none" strike="noStrike">
                <a:solidFill>
                  <a:srgbClr val="C8D3DE"/>
                </a:solidFill>
                <a:effectLst/>
                <a:uFillTx/>
                <a:latin typeface="Calibri"/>
              </a:rPr>
              <a:t>– Diff View → side-by-side → Accept all current / Accept all remote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Once it's resolved → commit message → Push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Rounded Rectangle 4"/>
          <p:cNvSpPr/>
          <p:nvPr/>
        </p:nvSpPr>
        <p:spPr>
          <a:xfrm>
            <a:off x="548640" y="5897880"/>
            <a:ext cx="11063880" cy="639720"/>
          </a:xfrm>
          <a:prstGeom prst="roundRect">
            <a:avLst>
              <a:gd name="adj" fmla="val 16667"/>
            </a:avLst>
          </a:prstGeom>
          <a:solidFill>
            <a:srgbClr val="3A2F10"/>
          </a:solidFill>
          <a:ln>
            <a:solidFill>
              <a:srgbClr val="FFC85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29B5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7" name="TextBox 2"/>
          <p:cNvSpPr/>
          <p:nvPr/>
        </p:nvSpPr>
        <p:spPr>
          <a:xfrm>
            <a:off x="548640" y="320040"/>
            <a:ext cx="10972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Limitations &amp; gotchas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Box 3"/>
          <p:cNvSpPr/>
          <p:nvPr/>
        </p:nvSpPr>
        <p:spPr>
          <a:xfrm>
            <a:off x="548640" y="1325880"/>
            <a:ext cx="1106388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Git workspaces are private; a shared workspace can't be Git-backed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Git workspaces are created only in the Snowsight UI (no CREATE WORKSPACE DDL for them)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The repo needs at least one branch (no empty repos); max repo size is 2 GB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Public repo without authentication = read-only (you can't push)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The PAT expires → update the secret: ALTER SECRET … SET PASSWORD = 'new_token'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Integrations &amp; secrets you can see depend on the role in your user menu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SHOW / DESCRIBE WORKSPACES doesn't tell you whether a workspace is Git-backed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29B5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0" name="TextBox 2"/>
          <p:cNvSpPr/>
          <p:nvPr/>
        </p:nvSpPr>
        <p:spPr>
          <a:xfrm>
            <a:off x="548640" y="320040"/>
            <a:ext cx="10972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Troubleshooting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Box 3"/>
          <p:cNvSpPr/>
          <p:nvPr/>
        </p:nvSpPr>
        <p:spPr>
          <a:xfrm>
            <a:off x="548640" y="1325880"/>
            <a:ext cx="1106388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Integration not in the dropdown → wrong role in the user menu / missing USAGE grant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Secret not listed → not in ALLOWED_AUTHENTICATION_SECRETS, or no USAGE on it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Authentication failed → PAT expired/revoked, missing 'repo' scope, wrong USERNAME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URL not allowed → repo URL doesn't start with API_ALLOWED_PREFIXES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Push rejected → pull first, resolve conflicts, push again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Can't push to an org repo → the org may require SSO authorisation for the PAT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601"/>
              </a:spcAft>
            </a:pPr>
            <a:r>
              <a:rPr lang="en-US" sz="1500" b="0" u="none" strike="noStrike">
                <a:solidFill>
                  <a:srgbClr val="C8D3DE"/>
                </a:solidFill>
                <a:effectLst/>
                <a:uFillTx/>
                <a:latin typeface="Calibri"/>
              </a:rPr>
              <a:t>– GitHub → Tokens (classic) → Configure SSO → Authorize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29B5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3" name="TextBox 2"/>
          <p:cNvSpPr/>
          <p:nvPr/>
        </p:nvSpPr>
        <p:spPr>
          <a:xfrm>
            <a:off x="548640" y="320040"/>
            <a:ext cx="10972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Best practices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Box 3"/>
          <p:cNvSpPr/>
          <p:nvPr/>
        </p:nvSpPr>
        <p:spPr>
          <a:xfrm>
            <a:off x="548640" y="1325880"/>
            <a:ext cx="1106388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9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Never commit credentials. Keep tokens in Snowflake SECRETs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9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Give the PAT the fewest scopes possible and a short expiry; rotate it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9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Keep API_ALLOWED_PREFIXES narrow (user/org, not all of github.com)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9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Use a dedicated role for Git access instead of ACCOUNTADMIN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9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Work on feature branches → PR review → merge to main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9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Write small commits with clear messages; pull before you start work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9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Protect main with GitHub branch-protection rules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29B5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6" name="TextBox 2"/>
          <p:cNvSpPr/>
          <p:nvPr/>
        </p:nvSpPr>
        <p:spPr>
          <a:xfrm>
            <a:off x="548640" y="320040"/>
            <a:ext cx="10972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Cleanup after the demo (optional)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Rounded Rectangle 3"/>
          <p:cNvSpPr/>
          <p:nvPr/>
        </p:nvSpPr>
        <p:spPr>
          <a:xfrm>
            <a:off x="548640" y="1325880"/>
            <a:ext cx="11063880" cy="21942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solidFill>
              <a:srgbClr val="29B5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tIns="18288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onsolas"/>
              </a:rPr>
              <a:t>DROP TABLE       IF EXISTS GIT_DEMO_DB.GIT_SCHEMA.CUSTOMER;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onsolas"/>
              </a:rPr>
              <a:t>DROP INTEGRATION IF EXISTS GITHUB_API_INTEGRATION;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onsolas"/>
              </a:rPr>
              <a:t>DROP SECRET      IF EXISTS GIT_DEMO_DB.GIT_SCHEMA.GITHUB_PAT_SECRET;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onsolas"/>
              </a:rPr>
              <a:t>DROP DATABASE    IF EXISTS GIT_DEMO_DB;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9B5E8"/>
                </a:solidFill>
                <a:effectLst/>
                <a:uFillTx/>
                <a:latin typeface="Consolas"/>
              </a:rPr>
              <a:t>-- Then revoke the PAT on GitHub: Settings › Developer settings › Tokens (classic) › Delete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Box 4"/>
          <p:cNvSpPr/>
          <p:nvPr/>
        </p:nvSpPr>
        <p:spPr>
          <a:xfrm>
            <a:off x="548640" y="3749040"/>
            <a:ext cx="1106388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Delete the Git workspace from the Workspaces menu if you no longer need it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29B5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0" name="TextBox 2"/>
          <p:cNvSpPr/>
          <p:nvPr/>
        </p:nvSpPr>
        <p:spPr>
          <a:xfrm>
            <a:off x="548640" y="320040"/>
            <a:ext cx="10972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Recap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Box 3"/>
          <p:cNvSpPr/>
          <p:nvPr/>
        </p:nvSpPr>
        <p:spPr>
          <a:xfrm>
            <a:off x="548640" y="1325880"/>
            <a:ext cx="1106388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9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1. Create a GitHub repo (with a README)   2. Generate a PAT (classic, repo scope)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9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3. CREATE SECRET (TYPE = PASSWORD)          4. CREATE API INTEGRATION (git_https_api)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9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5. Grant USAGE to the role                         6. Projects » Workspaces » From Git repository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9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7. Edit → Changes → diff → Push              8. Pull / Fetch All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9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9. Branch → PR → merge                            10. Resolve conflicts in Snowsight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Box 4"/>
          <p:cNvSpPr/>
          <p:nvPr/>
        </p:nvSpPr>
        <p:spPr>
          <a:xfrm>
            <a:off x="548640" y="4846320"/>
            <a:ext cx="109724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29B5E8"/>
                </a:solidFill>
                <a:effectLst/>
                <a:uFillTx/>
                <a:latin typeface="Calibri"/>
              </a:rPr>
              <a:t>Thanks for watching! Like · Subscribe · Questions in the comments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</TotalTime>
  <Application>LibreOffice/26.2.5.2$MacOSX_AARCH64 LibreOffice_project/cd7284b4cbbfeb507e630c1aac019f4157393acb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2026-10-24T14:39:18Z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